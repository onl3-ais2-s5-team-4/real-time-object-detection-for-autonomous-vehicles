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44"/>
  </p:notesMasterIdLst>
  <p:sldIdLst>
    <p:sldId id="297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56" r:id="rId32"/>
    <p:sldId id="257" r:id="rId33"/>
    <p:sldId id="258" r:id="rId34"/>
    <p:sldId id="259" r:id="rId35"/>
    <p:sldId id="260" r:id="rId36"/>
    <p:sldId id="261" r:id="rId37"/>
    <p:sldId id="262" r:id="rId38"/>
    <p:sldId id="263" r:id="rId39"/>
    <p:sldId id="265" r:id="rId40"/>
    <p:sldId id="267" r:id="rId41"/>
    <p:sldId id="264" r:id="rId42"/>
    <p:sldId id="26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A2F459-DEEA-4CB0-8B70-E7AB2B391D1A}" type="datetimeFigureOut">
              <a:rPr lang="LID4096" smtClean="0"/>
              <a:t>12/12/2025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7E2AB-3959-46EC-8201-26F57E037E0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C7E2AB-3959-46EC-8201-26F57E037E05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0543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155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607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31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7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09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9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8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3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9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12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724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5774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4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23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97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9502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832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6F0620C-A505-4C19-9886-4E6A96BD9B9E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7D359B4-770C-4988-BF70-082B1638B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592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1038-AB1F-4F91-9113-59671AE59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0430" y="1615440"/>
            <a:ext cx="7183120" cy="1209041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Real-Time Object Detection for Autonomous Vehicles</a:t>
            </a:r>
            <a:endParaRPr lang="LID4096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11B26-F8BC-4D24-AB97-87121935FB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9361" y="2946400"/>
            <a:ext cx="5730240" cy="3181774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effectLst/>
              </a:rPr>
              <a:t>Prepared by:</a:t>
            </a:r>
            <a:r>
              <a:rPr lang="en-US" sz="3600" b="1" dirty="0">
                <a:effectLst/>
              </a:rPr>
              <a:t> </a:t>
            </a:r>
          </a:p>
          <a:p>
            <a:pPr algn="l"/>
            <a:r>
              <a:rPr lang="en-US" dirty="0">
                <a:effectLst/>
              </a:rPr>
              <a:t>Fahd Adly Abo Hamady</a:t>
            </a:r>
          </a:p>
          <a:p>
            <a:pPr algn="l"/>
            <a:r>
              <a:rPr lang="en-US" dirty="0">
                <a:effectLst/>
              </a:rPr>
              <a:t>Abdelrahman </a:t>
            </a:r>
            <a:r>
              <a:rPr lang="en-US" dirty="0" err="1">
                <a:effectLst/>
              </a:rPr>
              <a:t>Yousry</a:t>
            </a:r>
            <a:r>
              <a:rPr lang="en-US" dirty="0">
                <a:effectLst/>
              </a:rPr>
              <a:t> Mohammed</a:t>
            </a:r>
          </a:p>
          <a:p>
            <a:pPr algn="l"/>
            <a:r>
              <a:rPr lang="en-US" dirty="0">
                <a:effectLst/>
              </a:rPr>
              <a:t>Mohamed Hazem </a:t>
            </a:r>
            <a:r>
              <a:rPr lang="en-US" dirty="0" err="1">
                <a:effectLst/>
              </a:rPr>
              <a:t>Alsherif</a:t>
            </a:r>
            <a:endParaRPr lang="en-US" dirty="0">
              <a:effectLst/>
            </a:endParaRPr>
          </a:p>
          <a:p>
            <a:pPr algn="l"/>
            <a:r>
              <a:rPr lang="en-US" dirty="0" err="1">
                <a:effectLst/>
              </a:rPr>
              <a:t>Esraa</a:t>
            </a:r>
            <a:r>
              <a:rPr lang="en-US" dirty="0">
                <a:effectLst/>
              </a:rPr>
              <a:t> Mohammed </a:t>
            </a:r>
            <a:r>
              <a:rPr lang="en-US" dirty="0" err="1">
                <a:effectLst/>
              </a:rPr>
              <a:t>Mohammed</a:t>
            </a:r>
            <a:endParaRPr lang="en-US" dirty="0">
              <a:effectLst/>
            </a:endParaRPr>
          </a:p>
          <a:p>
            <a:pPr algn="l"/>
            <a:r>
              <a:rPr lang="en-US" dirty="0" err="1">
                <a:effectLst/>
              </a:rPr>
              <a:t>Ghada</a:t>
            </a:r>
            <a:r>
              <a:rPr lang="en-US" dirty="0">
                <a:effectLst/>
              </a:rPr>
              <a:t> Ahmed </a:t>
            </a:r>
            <a:r>
              <a:rPr lang="en-US" dirty="0" err="1">
                <a:effectLst/>
              </a:rPr>
              <a:t>Alamir</a:t>
            </a:r>
            <a:endParaRPr lang="LID4096" sz="2800" dirty="0">
              <a:effectLst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83364E7-ACC2-4850-93CF-C44BC3272E96}"/>
              </a:ext>
            </a:extLst>
          </p:cNvPr>
          <p:cNvSpPr txBox="1">
            <a:spLocks/>
          </p:cNvSpPr>
          <p:nvPr/>
        </p:nvSpPr>
        <p:spPr>
          <a:xfrm>
            <a:off x="8118051" y="5029200"/>
            <a:ext cx="5222239" cy="1098974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dirty="0"/>
              <a:t>Supervised by:</a:t>
            </a:r>
          </a:p>
          <a:p>
            <a:pPr algn="l"/>
            <a:r>
              <a:rPr lang="en-US" dirty="0">
                <a:effectLst/>
              </a:rPr>
              <a:t>ENG. Ahmed Mostafa</a:t>
            </a:r>
            <a:endParaRPr lang="en-US" b="1" dirty="0">
              <a:effectLst/>
            </a:endParaRPr>
          </a:p>
        </p:txBody>
      </p:sp>
      <p:pic>
        <p:nvPicPr>
          <p:cNvPr id="8194" name="Picture 2" descr="Pioneers of Digital Egypt Initiative - Port Said University">
            <a:extLst>
              <a:ext uri="{FF2B5EF4-FFF2-40B4-BE49-F238E27FC236}">
                <a16:creationId xmlns:a16="http://schemas.microsoft.com/office/drawing/2014/main" id="{21F8B1D9-8DE6-4181-BCA4-31BD076E0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609" y="228600"/>
            <a:ext cx="2143125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038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B1369-EDF4-4CAF-8C01-93CFB3BD7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2" y="127333"/>
            <a:ext cx="9440034" cy="1049867"/>
          </a:xfrm>
        </p:spPr>
        <p:txBody>
          <a:bodyPr/>
          <a:lstStyle/>
          <a:p>
            <a:r>
              <a:rPr lang="en-US" dirty="0"/>
              <a:t>Project Vision &amp; Objective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B425E7-1DE8-4B6A-A112-CBABAE7D6A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41506" y="1608087"/>
            <a:ext cx="1130898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Mission Statement: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To build a robust machine learning system capable of detecting and classifying critical road objects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such as pedestrians, vehicles, and traffic signs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to ensure safe autonomous navigation.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Key Goals: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Enhance Safety: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The primary focus is to improve decision-making processes in real-time driving scenarios to protect passengers and pedestrians.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Real-Time Performance: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lang="en-US" altLang="LID4096" dirty="0">
              <a:ln>
                <a:noFill/>
              </a:ln>
              <a:effectLst/>
              <a:latin typeface="Calisto MT" panose="02040603050505030304" pitchFamily="18" charset="0"/>
            </a:endParaRP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Delivering high-speed inference (Frames Per Second) essential for immediate vehicle reaction times.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Reliability: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742950" lvl="1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Creating a fail-safe system that operates efficiently across dynamic urban and highway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54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A8D4B-1DF8-4669-A628-5B5B2E25C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236831"/>
            <a:ext cx="10353762" cy="970450"/>
          </a:xfrm>
        </p:spPr>
        <p:txBody>
          <a:bodyPr/>
          <a:lstStyle/>
          <a:p>
            <a:r>
              <a:rPr lang="en-US" dirty="0"/>
              <a:t>Challenges &amp; Technical Approach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A5DA53-9D6B-479C-A87C-D7247813F0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6" y="1207281"/>
            <a:ext cx="10353762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The Challenges: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Autonomous systems must perform accurately under unpredictable conditions, including: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Lighting Variations: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Operating effectively during night, day, and low-light scenarios.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Environmental Factors: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Handling diverse weather conditions like fog or rain, and various road textures.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Our Strategy:</a:t>
            </a: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Advanced Architectures: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Utilizing state-of-the-art models like YOLO or SSD to balance detection speed with high accuracy.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Transfer Learning: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Leveraging pre-trained weights from large-scale datasets (like COCO and KITTI) to accelerate learning and improve robustness.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Data Augmentation: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6628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Simulating different driving conditions (flipping, cropping) to prepare the model for the unexpected.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55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DEDE-ADB7-412D-A810-24A58F889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Roadmap (End-to-End Pipeline)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7EDEDC-4E7C-46CA-BD14-1BCB59E20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568346"/>
            <a:ext cx="10210799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The Development Journey: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Data Foundation: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Collecting and preprocessing diverse datasets (KITTI, Open Images) to create a clean, annotated training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Model Engineering: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Training and fine-tuning the detection model, optimizing for metrics like Mean Average Precision (mAP) and Intersection over Union (IoU).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Real-Time Deployment: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Integrating the model into an inference pipeline to process live camera feeds from the vehicle.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Continuous Evolution (MLOps):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</a:t>
            </a:r>
            <a:endParaRPr kumimoji="0" lang="en-US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3771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Implementing monitoring pipelines to track performance drifts and trigger automated retraining, ensuring the model adapts to new data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77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C04DF-4B91-7A8D-4B52-9B3C82B6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0" y="2915285"/>
            <a:ext cx="2727960" cy="102743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ffectLst/>
              </a:rPr>
              <a:t>Milestone 1</a:t>
            </a:r>
          </a:p>
        </p:txBody>
      </p:sp>
    </p:spTree>
    <p:extLst>
      <p:ext uri="{BB962C8B-B14F-4D97-AF65-F5344CB8AC3E}">
        <p14:creationId xmlns:p14="http://schemas.microsoft.com/office/powerpoint/2010/main" val="57327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4573" y="581575"/>
            <a:ext cx="3912205" cy="970450"/>
          </a:xfrm>
        </p:spPr>
        <p:txBody>
          <a:bodyPr/>
          <a:lstStyle/>
          <a:p>
            <a:pPr algn="l"/>
            <a:r>
              <a:rPr dirty="0">
                <a:effectLst/>
                <a:latin typeface="Calisto MT" panose="0204060305050503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End-to-End YOLOv8 Data Pipeline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Dataset</a:t>
            </a:r>
            <a:r>
              <a:rPr lang="en-US" dirty="0"/>
              <a:t>  version of “bdd100K”</a:t>
            </a:r>
            <a:r>
              <a:rPr dirty="0"/>
              <a:t> download</a:t>
            </a:r>
            <a:r>
              <a:rPr lang="en-US" dirty="0"/>
              <a:t>ed</a:t>
            </a:r>
            <a:r>
              <a:rPr dirty="0"/>
              <a:t> via Roboflow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Preprocessing and directory structuring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Goal: prepare autonomous driving dataset for YOLOv8 training</a:t>
            </a:r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30FC81B-34FC-88A6-EC72-BBE843251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404" y="3686176"/>
            <a:ext cx="8473597" cy="18408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9172" y="424721"/>
            <a:ext cx="5563007" cy="970450"/>
          </a:xfrm>
        </p:spPr>
        <p:txBody>
          <a:bodyPr/>
          <a:lstStyle/>
          <a:p>
            <a:pPr algn="l"/>
            <a:r>
              <a:rPr dirty="0">
                <a:effectLst/>
                <a:latin typeface="Calisto MT" panose="02040603050505030304" pitchFamily="18" charset="0"/>
              </a:rPr>
              <a:t>Preprocessing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2341711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Read images and YOLO label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Optional resizing &amp; bounding box adjustments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Validation of bounding boxes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Export cleaned data into train/valid/test</a:t>
            </a:r>
          </a:p>
        </p:txBody>
      </p:sp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77BDA02-5365-18D7-A3DC-90D997E7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95" y="3926383"/>
            <a:ext cx="5979567" cy="2506896"/>
          </a:xfrm>
          <a:prstGeom prst="rect">
            <a:avLst/>
          </a:prstGeom>
        </p:spPr>
      </p:pic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016FF0DB-7AD2-3F8B-C6BD-537D79386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38" y="4632012"/>
            <a:ext cx="5344271" cy="10956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2213" y="581575"/>
            <a:ext cx="3576925" cy="970450"/>
          </a:xfrm>
        </p:spPr>
        <p:txBody>
          <a:bodyPr/>
          <a:lstStyle/>
          <a:p>
            <a:pPr algn="l"/>
            <a:r>
              <a:rPr dirty="0">
                <a:effectLst/>
              </a:rPr>
              <a:t>Augmentation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Augmentation Pipeline: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Random Crop, Flip, Brightness/Contrast, Motion Blur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Class distribution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dirty="0"/>
              <a:t>Save augmented images &amp; labels</a:t>
            </a:r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4A5C4DA-404D-B2F2-6473-555314B3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542" y="3864387"/>
            <a:ext cx="9146266" cy="19268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861A0-7E84-C6FF-B7C9-91EC70F4A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2689" y="416411"/>
            <a:ext cx="6391245" cy="970450"/>
          </a:xfrm>
        </p:spPr>
        <p:txBody>
          <a:bodyPr/>
          <a:lstStyle/>
          <a:p>
            <a:pPr algn="l"/>
            <a:r>
              <a:rPr lang="en-US" dirty="0">
                <a:effectLst/>
              </a:rPr>
              <a:t>Class Distribution &amp; Factors</a:t>
            </a:r>
          </a:p>
        </p:txBody>
      </p:sp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D7D3DD69-3BA6-2061-ED21-3263FCC74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402425"/>
            <a:ext cx="5686425" cy="4039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74AA00-A33A-AA77-257A-59AB79A1684D}"/>
              </a:ext>
            </a:extLst>
          </p:cNvPr>
          <p:cNvSpPr txBox="1"/>
          <p:nvPr/>
        </p:nvSpPr>
        <p:spPr>
          <a:xfrm>
            <a:off x="1876425" y="1518072"/>
            <a:ext cx="73437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000" dirty="0"/>
              <a:t>Reads all label files to count how many samples each class has.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8F1F1-B083-8669-942F-FAA87D56FBCA}"/>
              </a:ext>
            </a:extLst>
          </p:cNvPr>
          <p:cNvSpPr txBox="1"/>
          <p:nvPr/>
        </p:nvSpPr>
        <p:spPr>
          <a:xfrm>
            <a:off x="1876425" y="1887405"/>
            <a:ext cx="71151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Identifies rare classes with low instance count.</a:t>
            </a:r>
          </a:p>
        </p:txBody>
      </p:sp>
    </p:spTree>
    <p:extLst>
      <p:ext uri="{BB962C8B-B14F-4D97-AF65-F5344CB8AC3E}">
        <p14:creationId xmlns:p14="http://schemas.microsoft.com/office/powerpoint/2010/main" val="83651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5722-2E20-34BD-8553-CA033B9E3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832" y="264160"/>
            <a:ext cx="5634081" cy="97045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ffectLst/>
              </a:rPr>
              <a:t>Generate Configuration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31A5A-B0BC-C4AD-4DBE-7CF301537837}"/>
              </a:ext>
            </a:extLst>
          </p:cNvPr>
          <p:cNvSpPr txBox="1"/>
          <p:nvPr/>
        </p:nvSpPr>
        <p:spPr>
          <a:xfrm>
            <a:off x="2209345" y="1419851"/>
            <a:ext cx="63250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Loads class names from the original YAML file.</a:t>
            </a:r>
          </a:p>
          <a:p>
            <a:pPr marL="342900" indent="-342900">
              <a:buFont typeface="Arial" panose="020B0604020202020204" pitchFamily="34" charset="0"/>
              <a:buChar char="•"/>
              <a:defRPr sz="2200"/>
            </a:pPr>
            <a:r>
              <a:rPr lang="en-US" sz="2200" dirty="0"/>
              <a:t>Builds the YOLOv8 “data.yaml” structure.</a:t>
            </a:r>
          </a:p>
        </p:txBody>
      </p:sp>
      <p:pic>
        <p:nvPicPr>
          <p:cNvPr id="7" name="Picture 6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A2D6AE00-36A9-FDD8-CF9A-AD5A555F7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044" y="2189292"/>
            <a:ext cx="6979436" cy="432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20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4060190" y="2698031"/>
            <a:ext cx="4071620" cy="730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81"/>
              </a:lnSpc>
            </a:pPr>
            <a:r>
              <a:rPr lang="en-US" sz="4900" dirty="0">
                <a:latin typeface="+mj-lt"/>
                <a:ea typeface="Poppins Ultra-Bold"/>
                <a:cs typeface="Poppins Ultra-Bold"/>
                <a:sym typeface="Poppins Ultra-Bold"/>
              </a:rPr>
              <a:t>Milestone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2905636" y="2605314"/>
            <a:ext cx="6380728" cy="3796533"/>
          </a:xfrm>
          <a:custGeom>
            <a:avLst/>
            <a:gdLst/>
            <a:ahLst/>
            <a:cxnLst/>
            <a:rect l="l" t="t" r="r" b="b"/>
            <a:pathLst>
              <a:path w="9571092" h="5694800">
                <a:moveTo>
                  <a:pt x="0" y="0"/>
                </a:moveTo>
                <a:lnTo>
                  <a:pt x="9571092" y="0"/>
                </a:lnTo>
                <a:lnTo>
                  <a:pt x="9571092" y="5694800"/>
                </a:lnTo>
                <a:lnTo>
                  <a:pt x="0" y="569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79210" y="377831"/>
            <a:ext cx="10833580" cy="670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07"/>
              </a:lnSpc>
            </a:pPr>
            <a:r>
              <a:rPr lang="en-US" sz="3200" b="1" dirty="0">
                <a:latin typeface="+mj-lt"/>
                <a:ea typeface="Poppins Ultra-Bold"/>
                <a:cs typeface="Poppins Ultra-Bold"/>
                <a:sym typeface="Poppins Ultra-Bold"/>
              </a:rPr>
              <a:t>ENVIRONMENT SETUP &amp; LIBRARY INSTALLATION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9210" y="1404914"/>
            <a:ext cx="11999033" cy="843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98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Open Sans"/>
                <a:cs typeface="Open Sans"/>
                <a:sym typeface="Open Sans"/>
              </a:rPr>
              <a:t> Installing and configuring Ultralytics YOLOv8 environment in Kaggle.</a:t>
            </a:r>
          </a:p>
          <a:p>
            <a:pPr marL="342900" indent="-342900">
              <a:lnSpc>
                <a:spcPts val="3398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ea typeface="Open Sans"/>
                <a:cs typeface="Open Sans"/>
                <a:sym typeface="Open Sans"/>
              </a:rPr>
              <a:t>Ensuring reproducibility and environment compatibility with local wheel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3611319" y="1963885"/>
            <a:ext cx="5867961" cy="4712505"/>
          </a:xfrm>
          <a:custGeom>
            <a:avLst/>
            <a:gdLst/>
            <a:ahLst/>
            <a:cxnLst/>
            <a:rect l="l" t="t" r="r" b="b"/>
            <a:pathLst>
              <a:path w="9233316" h="7721360">
                <a:moveTo>
                  <a:pt x="0" y="0"/>
                </a:moveTo>
                <a:lnTo>
                  <a:pt x="9233315" y="0"/>
                </a:lnTo>
                <a:lnTo>
                  <a:pt x="9233315" y="7721360"/>
                </a:lnTo>
                <a:lnTo>
                  <a:pt x="0" y="7721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86360" y="466090"/>
            <a:ext cx="12364720" cy="631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4000" b="1" dirty="0">
                <a:latin typeface="+mj-lt"/>
                <a:ea typeface="Poppins Ultra-Bold"/>
                <a:cs typeface="Poppins Ultra-Bold"/>
                <a:sym typeface="Poppins Ultra-Bold"/>
              </a:rPr>
              <a:t>DATASET PREPARATION &amp; VERIFICATION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7098" y="1268167"/>
            <a:ext cx="11674902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63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Efficient copying of processed dataset to working directory.</a:t>
            </a:r>
          </a:p>
          <a:p>
            <a:pPr marL="342900" indent="-342900">
              <a:lnSpc>
                <a:spcPts val="263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Dataset structure validated with “data.yaml” file to ensure correct training input.</a:t>
            </a:r>
          </a:p>
          <a:p>
            <a:pPr>
              <a:lnSpc>
                <a:spcPts val="2639"/>
              </a:lnSpc>
            </a:pPr>
            <a:endParaRPr lang="en-US" sz="2400" dirty="0"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651900" y="3270783"/>
            <a:ext cx="8482700" cy="1413713"/>
          </a:xfrm>
          <a:custGeom>
            <a:avLst/>
            <a:gdLst/>
            <a:ahLst/>
            <a:cxnLst/>
            <a:rect l="l" t="t" r="r" b="b"/>
            <a:pathLst>
              <a:path w="12724050" h="2120569">
                <a:moveTo>
                  <a:pt x="0" y="0"/>
                </a:moveTo>
                <a:lnTo>
                  <a:pt x="12724050" y="0"/>
                </a:lnTo>
                <a:lnTo>
                  <a:pt x="12724050" y="2120569"/>
                </a:lnTo>
                <a:lnTo>
                  <a:pt x="0" y="21205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" r="-50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05503" y="246632"/>
            <a:ext cx="6706111" cy="84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67"/>
              </a:lnSpc>
            </a:pPr>
            <a:r>
              <a:rPr lang="en-US" sz="4000" b="1" dirty="0">
                <a:latin typeface="+mj-lt"/>
                <a:ea typeface="Poppins Ultra-Bold"/>
                <a:cs typeface="Poppins Ultra-Bold"/>
                <a:sym typeface="Poppins Ultra-Bold"/>
              </a:rPr>
              <a:t>MODEL INITIALIZATION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9788" y="1846873"/>
            <a:ext cx="10837542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25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Loading pretrained YOLOv8 Small weights optimized for traffic object detection.</a:t>
            </a:r>
          </a:p>
          <a:p>
            <a:pPr marL="342900" indent="-342900" algn="just">
              <a:lnSpc>
                <a:spcPts val="255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Ensures faster convergence and better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3925000" y="2543320"/>
            <a:ext cx="4341997" cy="4021365"/>
          </a:xfrm>
          <a:custGeom>
            <a:avLst/>
            <a:gdLst/>
            <a:ahLst/>
            <a:cxnLst/>
            <a:rect l="l" t="t" r="r" b="b"/>
            <a:pathLst>
              <a:path w="6512995" h="6032047">
                <a:moveTo>
                  <a:pt x="0" y="0"/>
                </a:moveTo>
                <a:lnTo>
                  <a:pt x="6512995" y="0"/>
                </a:lnTo>
                <a:lnTo>
                  <a:pt x="6512995" y="6032047"/>
                </a:lnTo>
                <a:lnTo>
                  <a:pt x="0" y="60320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3518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78031" y="293315"/>
            <a:ext cx="12348058" cy="8431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67"/>
              </a:lnSpc>
            </a:pPr>
            <a:r>
              <a:rPr lang="en-US" sz="4000" b="1" dirty="0">
                <a:latin typeface="+mj-lt"/>
                <a:ea typeface="Poppins Ultra-Bold"/>
                <a:cs typeface="Poppins Ultra-Bold"/>
                <a:sym typeface="Poppins Ultra-Bold"/>
              </a:rPr>
              <a:t>TRAINING CONFIGURATION &amp; EXECUTION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523" y="1395390"/>
            <a:ext cx="12609429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0609" lvl="1" indent="-230304">
              <a:lnSpc>
                <a:spcPts val="2559"/>
              </a:lnSpc>
              <a:buFont typeface="Arial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Training parameters: 70 epochs, batch size 64, image size 640px.</a:t>
            </a:r>
          </a:p>
          <a:p>
            <a:pPr marL="460609" lvl="1" indent="-230304">
              <a:lnSpc>
                <a:spcPts val="2559"/>
              </a:lnSpc>
              <a:buFont typeface="Arial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Dual GPU training with AMP for speed and memory optimization.</a:t>
            </a:r>
          </a:p>
          <a:p>
            <a:pPr marL="460609" lvl="1" indent="-230304">
              <a:lnSpc>
                <a:spcPts val="2559"/>
              </a:lnSpc>
              <a:buFont typeface="Arial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Early stopping with patience 10 to prevent overfitting.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2981453" y="2444172"/>
            <a:ext cx="6229093" cy="4200467"/>
          </a:xfrm>
          <a:custGeom>
            <a:avLst/>
            <a:gdLst/>
            <a:ahLst/>
            <a:cxnLst/>
            <a:rect l="l" t="t" r="r" b="b"/>
            <a:pathLst>
              <a:path w="9343640" h="6911975">
                <a:moveTo>
                  <a:pt x="0" y="0"/>
                </a:moveTo>
                <a:lnTo>
                  <a:pt x="9343641" y="0"/>
                </a:lnTo>
                <a:lnTo>
                  <a:pt x="9343641" y="6911976"/>
                </a:lnTo>
                <a:lnTo>
                  <a:pt x="0" y="6911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86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85800" y="527050"/>
            <a:ext cx="9984435" cy="84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7"/>
              </a:lnSpc>
            </a:pPr>
            <a:r>
              <a:rPr lang="en-US" sz="4000" b="1" dirty="0">
                <a:latin typeface="+mj-lt"/>
                <a:ea typeface="Poppins Ultra-Bold"/>
                <a:cs typeface="Poppins Ultra-Bold"/>
                <a:sym typeface="Poppins Ultra-Bold"/>
              </a:rPr>
              <a:t>TRAINING PROGRESS MONITORING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8170" y="1639416"/>
            <a:ext cx="10709510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0609" lvl="1" indent="-230304">
              <a:lnSpc>
                <a:spcPts val="2559"/>
              </a:lnSpc>
              <a:buFont typeface="Arial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Real-time display of loss, accuracy, and </a:t>
            </a:r>
            <a:r>
              <a:rPr lang="en-US" sz="2400" dirty="0" err="1">
                <a:ea typeface="Open Sans"/>
                <a:cs typeface="Open Sans"/>
                <a:sym typeface="Open Sans"/>
              </a:rPr>
              <a:t>mAP</a:t>
            </a:r>
            <a:r>
              <a:rPr lang="en-US" sz="2400" dirty="0">
                <a:ea typeface="Open Sans"/>
                <a:cs typeface="Open Sans"/>
                <a:sym typeface="Open Sans"/>
              </a:rPr>
              <a:t> metrics during training.</a:t>
            </a:r>
          </a:p>
          <a:p>
            <a:pPr marL="460609" lvl="1" indent="-230304">
              <a:lnSpc>
                <a:spcPts val="2559"/>
              </a:lnSpc>
              <a:buFont typeface="Arial"/>
              <a:buChar char="•"/>
            </a:pPr>
            <a:r>
              <a:rPr lang="en-US" sz="2400" dirty="0">
                <a:ea typeface="Open Sans"/>
                <a:cs typeface="Open Sans"/>
                <a:sym typeface="Open Sans"/>
              </a:rPr>
              <a:t>Logging results for post-training analysis.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213359" y="488191"/>
            <a:ext cx="6038021" cy="5881617"/>
          </a:xfrm>
          <a:custGeom>
            <a:avLst/>
            <a:gdLst/>
            <a:ahLst/>
            <a:cxnLst/>
            <a:rect l="l" t="t" r="r" b="b"/>
            <a:pathLst>
              <a:path w="9057031" h="8822426">
                <a:moveTo>
                  <a:pt x="0" y="0"/>
                </a:moveTo>
                <a:lnTo>
                  <a:pt x="9057031" y="0"/>
                </a:lnTo>
                <a:lnTo>
                  <a:pt x="9057031" y="8822426"/>
                </a:lnTo>
                <a:lnTo>
                  <a:pt x="0" y="882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816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492347" y="527050"/>
            <a:ext cx="5272934" cy="18049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67"/>
              </a:lnSpc>
              <a:spcBef>
                <a:spcPct val="0"/>
              </a:spcBef>
            </a:pPr>
            <a:r>
              <a:rPr lang="en-US" sz="4000" b="1" dirty="0">
                <a:latin typeface="+mj-lt"/>
                <a:ea typeface="Poppins Ultra-Bold"/>
                <a:cs typeface="Poppins Ultra-Bold"/>
                <a:sym typeface="Poppins Ultra-Bold"/>
              </a:rPr>
              <a:t>EVALUATION &amp; VISUALIZATION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78986" y="2772121"/>
            <a:ext cx="5699655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Real-time monitoring of training progress</a:t>
            </a:r>
          </a:p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Visualization of key metrics: loss, accuracy, and </a:t>
            </a:r>
            <a:r>
              <a:rPr lang="en-US" sz="2000" dirty="0" err="1">
                <a:latin typeface="Open Sans"/>
                <a:ea typeface="Open Sans"/>
                <a:cs typeface="Open Sans"/>
                <a:sym typeface="Open Sans"/>
              </a:rPr>
              <a:t>mAP</a:t>
            </a:r>
            <a:endParaRPr lang="en-US" sz="2000" dirty="0">
              <a:latin typeface="Open Sans"/>
              <a:ea typeface="Open Sans"/>
              <a:cs typeface="Open Sans"/>
              <a:sym typeface="Open Sans"/>
            </a:endParaRPr>
          </a:p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Graphs and charts for intuitive insight during training</a:t>
            </a:r>
          </a:p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 dirty="0">
                <a:latin typeface="Open Sans"/>
                <a:ea typeface="Open Sans"/>
                <a:cs typeface="Open Sans"/>
                <a:sym typeface="Open Sans"/>
              </a:rPr>
              <a:t>Logging data for detailed post-training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3350400" y="2981936"/>
            <a:ext cx="2485209" cy="2485209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6CE5E8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192166" y="2981936"/>
            <a:ext cx="2485209" cy="248520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6CE5E8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91440" y="1884668"/>
            <a:ext cx="7200957" cy="3582477"/>
          </a:xfrm>
          <a:custGeom>
            <a:avLst/>
            <a:gdLst/>
            <a:ahLst/>
            <a:cxnLst/>
            <a:rect l="l" t="t" r="r" b="b"/>
            <a:pathLst>
              <a:path w="10801436" h="5373715">
                <a:moveTo>
                  <a:pt x="0" y="0"/>
                </a:moveTo>
                <a:lnTo>
                  <a:pt x="10801436" y="0"/>
                </a:lnTo>
                <a:lnTo>
                  <a:pt x="10801436" y="5373715"/>
                </a:lnTo>
                <a:lnTo>
                  <a:pt x="0" y="53737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427461" y="1766942"/>
            <a:ext cx="4478567" cy="3817927"/>
          </a:xfrm>
          <a:custGeom>
            <a:avLst/>
            <a:gdLst/>
            <a:ahLst/>
            <a:cxnLst/>
            <a:rect l="l" t="t" r="r" b="b"/>
            <a:pathLst>
              <a:path w="6717851" h="5726890">
                <a:moveTo>
                  <a:pt x="0" y="0"/>
                </a:moveTo>
                <a:lnTo>
                  <a:pt x="6717851" y="0"/>
                </a:lnTo>
                <a:lnTo>
                  <a:pt x="6717851" y="5726889"/>
                </a:lnTo>
                <a:lnTo>
                  <a:pt x="0" y="57268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91" r="-7073" b="-191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9169" y="340026"/>
            <a:ext cx="10913661" cy="60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  <a:spcBef>
                <a:spcPct val="0"/>
              </a:spcBef>
            </a:pPr>
            <a:r>
              <a:rPr lang="en-US" sz="3200" b="1" dirty="0">
                <a:latin typeface="+mj-lt"/>
                <a:ea typeface="Poppins Ultra-Bold"/>
                <a:cs typeface="Poppins Ultra-Bold"/>
                <a:sym typeface="Poppins Ultra-Bold"/>
              </a:rPr>
              <a:t>VISUALIZATION MAPS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1913" y="1299188"/>
            <a:ext cx="4496974" cy="39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400" b="1" dirty="0">
                <a:ea typeface="Open Sans Bold"/>
                <a:cs typeface="Open Sans Bold"/>
                <a:sym typeface="Open Sans Bold"/>
              </a:rPr>
              <a:t>Training Metrics (Loss &amp; </a:t>
            </a:r>
            <a:r>
              <a:rPr lang="en-US" sz="2400" b="1" dirty="0" err="1">
                <a:ea typeface="Open Sans Bold"/>
                <a:cs typeface="Open Sans Bold"/>
                <a:sym typeface="Open Sans Bold"/>
              </a:rPr>
              <a:t>mAP</a:t>
            </a:r>
            <a:r>
              <a:rPr lang="en-US" sz="2400" b="1" dirty="0">
                <a:ea typeface="Open Sans Bold"/>
                <a:cs typeface="Open Sans Bold"/>
                <a:sym typeface="Open Sans Bold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80243" y="1273131"/>
            <a:ext cx="2973001" cy="394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7"/>
              </a:lnSpc>
            </a:pPr>
            <a:r>
              <a:rPr lang="en-US" sz="2400" b="1" dirty="0">
                <a:ea typeface="Open Sans Bold"/>
                <a:cs typeface="Open Sans Bold"/>
                <a:sym typeface="Open Sans Bold"/>
              </a:rPr>
              <a:t>Confusion Matrix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208118" y="1190400"/>
            <a:ext cx="5005440" cy="4010095"/>
          </a:xfrm>
          <a:custGeom>
            <a:avLst/>
            <a:gdLst/>
            <a:ahLst/>
            <a:cxnLst/>
            <a:rect l="l" t="t" r="r" b="b"/>
            <a:pathLst>
              <a:path w="7508160" h="6015143">
                <a:moveTo>
                  <a:pt x="0" y="0"/>
                </a:moveTo>
                <a:lnTo>
                  <a:pt x="7508160" y="0"/>
                </a:lnTo>
                <a:lnTo>
                  <a:pt x="7508160" y="6015143"/>
                </a:lnTo>
                <a:lnTo>
                  <a:pt x="0" y="6015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550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848772" y="2841400"/>
            <a:ext cx="4858989" cy="4013770"/>
          </a:xfrm>
          <a:custGeom>
            <a:avLst/>
            <a:gdLst/>
            <a:ahLst/>
            <a:cxnLst/>
            <a:rect l="l" t="t" r="r" b="b"/>
            <a:pathLst>
              <a:path w="7288483" h="6020655">
                <a:moveTo>
                  <a:pt x="0" y="0"/>
                </a:moveTo>
                <a:lnTo>
                  <a:pt x="7288483" y="0"/>
                </a:lnTo>
                <a:lnTo>
                  <a:pt x="7288483" y="6020655"/>
                </a:lnTo>
                <a:lnTo>
                  <a:pt x="0" y="6020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90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3127" y="164981"/>
            <a:ext cx="10793073" cy="830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04"/>
              </a:lnSpc>
              <a:spcBef>
                <a:spcPct val="0"/>
              </a:spcBef>
            </a:pPr>
            <a:r>
              <a:rPr lang="en-US" sz="4931" b="1">
                <a:latin typeface="Poppins Ultra-Bold"/>
                <a:ea typeface="Poppins Ultra-Bold"/>
                <a:cs typeface="Poppins Ultra-Bold"/>
                <a:sym typeface="Poppins Ultra-Bold"/>
              </a:rPr>
              <a:t>FINAL VALIDATION &amp; DOWNLOAD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13558" y="1190400"/>
            <a:ext cx="6765174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Comprehensive evaluation on the test dataset</a:t>
            </a:r>
          </a:p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Metrics reported: mAP@50 and mAP@50-95</a:t>
            </a:r>
          </a:p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Confusion matrix analysis to identify error types</a:t>
            </a:r>
          </a:p>
          <a:p>
            <a:pPr marL="431822" lvl="1" indent="-215911">
              <a:lnSpc>
                <a:spcPts val="2400"/>
              </a:lnSpc>
              <a:buFont typeface="Arial"/>
              <a:buChar char="•"/>
            </a:pPr>
            <a:r>
              <a:rPr lang="en-US" sz="2000">
                <a:latin typeface="Open Sans"/>
                <a:ea typeface="Open Sans"/>
                <a:cs typeface="Open Sans"/>
                <a:sym typeface="Open Sans"/>
              </a:rPr>
              <a:t>Option to download trained model and results for deployment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9018-B631-DBD1-405D-F28389B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84753" y="3026829"/>
            <a:ext cx="3622494" cy="804341"/>
          </a:xfrm>
        </p:spPr>
        <p:txBody>
          <a:bodyPr>
            <a:normAutofit fontScale="90000"/>
          </a:bodyPr>
          <a:lstStyle/>
          <a:p>
            <a:r>
              <a:rPr lang="en-US" sz="4900" dirty="0"/>
              <a:t>Milestone 3.1</a:t>
            </a:r>
          </a:p>
        </p:txBody>
      </p:sp>
    </p:spTree>
    <p:extLst>
      <p:ext uri="{BB962C8B-B14F-4D97-AF65-F5344CB8AC3E}">
        <p14:creationId xmlns:p14="http://schemas.microsoft.com/office/powerpoint/2010/main" val="599769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76F7-D2FC-BDEA-3A66-A99502B0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046480"/>
            <a:ext cx="10353762" cy="970450"/>
          </a:xfrm>
        </p:spPr>
        <p:txBody>
          <a:bodyPr/>
          <a:lstStyle/>
          <a:p>
            <a:r>
              <a:rPr lang="en-US" dirty="0"/>
              <a:t>Inference Pipeline Overview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1BD8FF-9373-7D23-4837-B8B440A761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3395" y="2588349"/>
            <a:ext cx="11938605" cy="234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628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this part, I implemented the inference pipeline used to run the model after training.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628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pipeline supports image input, video input, and live webcam streaming.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628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used the ONNX version of the model for faster real-time performance.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628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system processes each frame, applies detection, and displays or saves the output.</a:t>
            </a:r>
            <a:endParaRPr lang="en-US" altLang="en-US" sz="200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628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pipeline connects the trained model to real-world testing on the road.</a:t>
            </a:r>
          </a:p>
        </p:txBody>
      </p:sp>
    </p:spTree>
    <p:extLst>
      <p:ext uri="{BB962C8B-B14F-4D97-AF65-F5344CB8AC3E}">
        <p14:creationId xmlns:p14="http://schemas.microsoft.com/office/powerpoint/2010/main" val="3343165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42C5-0890-AFEF-6CC0-C50E030C4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72157"/>
            <a:ext cx="11155680" cy="1634723"/>
          </a:xfrm>
        </p:spPr>
        <p:txBody>
          <a:bodyPr/>
          <a:lstStyle/>
          <a:p>
            <a:r>
              <a:rPr lang="en-US" dirty="0"/>
              <a:t>Setup &amp; Configuration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00BEC3-42B9-8C96-075D-06C1901371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7804" y="1375427"/>
            <a:ext cx="967107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part sets up all paths for the model, input files, and output directory.</a:t>
            </a:r>
            <a:endParaRPr kumimoji="0" lang="ar-EG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creates the output folder if it doesn’t exist.</a:t>
            </a:r>
            <a:endParaRPr kumimoji="0" lang="ar-EG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parameters like confidence threshold and image size are defined here.</a:t>
            </a:r>
            <a:endParaRPr kumimoji="0" lang="ar-EG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Prepares the environment for running the inference pipeline.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92A6D-3620-4F2B-9B09-4D69EE87E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581" y="3614551"/>
            <a:ext cx="4738517" cy="292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00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7391-F636-6E95-7FEE-E1FB8E01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" y="286603"/>
            <a:ext cx="11090366" cy="1450757"/>
          </a:xfrm>
        </p:spPr>
        <p:txBody>
          <a:bodyPr/>
          <a:lstStyle/>
          <a:p>
            <a:r>
              <a:rPr lang="en-US" dirty="0"/>
              <a:t>Model Loading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E532977-E411-6A8B-5267-1865C9A8C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0817" y="1625251"/>
            <a:ext cx="1109036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this part, the ONNX model is loaded into the system.</a:t>
            </a:r>
            <a:endParaRPr kumimoji="0" lang="ar-EG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pipeline initializes the YOLO model so it’s ready for inference.</a:t>
            </a:r>
            <a:endParaRPr kumimoji="0" lang="ar-EG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Simple status messages are printed to confirm that the model was loaded successfully.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D96E0D-7948-C9F0-D759-BD4F76110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044" y="3840576"/>
            <a:ext cx="5763011" cy="150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34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59FB-1CC9-0BDD-E177-A31B5DEB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98363"/>
            <a:ext cx="11155680" cy="1450757"/>
          </a:xfrm>
        </p:spPr>
        <p:txBody>
          <a:bodyPr/>
          <a:lstStyle/>
          <a:p>
            <a:r>
              <a:rPr lang="en-US" dirty="0"/>
              <a:t>Image Detection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59751BD0-EEAC-F536-BBFE-537FBF063D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7035" y="2667121"/>
            <a:ext cx="564581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part runs the model on a single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pipeline detects objects in the image and draws bounding boxes.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processed image is saved automatically and displayed on screen for review.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6CD858-2701-953A-3057-FEDDBE070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46294"/>
            <a:ext cx="5645813" cy="309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542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D21-BB29-669F-FC64-89C34DAA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911" y="186612"/>
            <a:ext cx="6050176" cy="1422401"/>
          </a:xfrm>
        </p:spPr>
        <p:txBody>
          <a:bodyPr/>
          <a:lstStyle/>
          <a:p>
            <a:r>
              <a:rPr lang="en-US" dirty="0"/>
              <a:t>Video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063B2A-D094-0688-91C2-48608A0F24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8447" y="1982825"/>
            <a:ext cx="5849154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part processes a video file frame by frame.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model detects objects in each frame and draws bounding boxes.</a:t>
            </a:r>
            <a:endParaRPr lang="en-US" altLang="en-US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processed video is saved automatically and displayed in real-time.</a:t>
            </a:r>
          </a:p>
          <a:p>
            <a:pPr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can stop the video processing anytime by pressing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45819E-D3E8-EF05-973C-4E9C3DACA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1" y="1609013"/>
            <a:ext cx="5717155" cy="473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57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0ECF-1B98-639A-5585-0CB2E5F547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Milestone 3.2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3691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4EA79-DA41-9C48-F819-165393F2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Inference Pipeline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72F2E-7596-29E6-2D9F-6356ACB27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Goal:</a:t>
            </a:r>
            <a:r>
              <a:rPr lang="en-GB" dirty="0"/>
              <a:t> Bridging the gap between model training and real-world application.</a:t>
            </a:r>
          </a:p>
          <a:p>
            <a:r>
              <a:rPr lang="en-GB" b="1" dirty="0"/>
              <a:t>Versatile Media Handling:</a:t>
            </a:r>
            <a:endParaRPr lang="en-GB" dirty="0"/>
          </a:p>
          <a:p>
            <a:pPr lvl="1"/>
            <a:r>
              <a:rPr lang="en-GB" dirty="0"/>
              <a:t>Designed to process diverse input formats seamlessly.</a:t>
            </a:r>
          </a:p>
          <a:p>
            <a:pPr lvl="1"/>
            <a:r>
              <a:rPr lang="en-GB" dirty="0"/>
              <a:t>Supports static </a:t>
            </a:r>
            <a:r>
              <a:rPr lang="en-GB" b="1" dirty="0"/>
              <a:t>Images</a:t>
            </a:r>
            <a:r>
              <a:rPr lang="en-GB" dirty="0"/>
              <a:t>, pre-recorded </a:t>
            </a:r>
            <a:r>
              <a:rPr lang="en-GB" b="1" dirty="0"/>
              <a:t>Videos</a:t>
            </a:r>
            <a:r>
              <a:rPr lang="en-GB" dirty="0"/>
              <a:t>, and live </a:t>
            </a:r>
            <a:r>
              <a:rPr lang="en-GB" b="1" dirty="0"/>
              <a:t>Webcam</a:t>
            </a:r>
            <a:r>
              <a:rPr lang="en-GB" dirty="0"/>
              <a:t> feeds.</a:t>
            </a:r>
          </a:p>
          <a:p>
            <a:r>
              <a:rPr lang="en-GB" b="1" dirty="0"/>
              <a:t>Interoperability:</a:t>
            </a:r>
            <a:endParaRPr lang="en-GB" dirty="0"/>
          </a:p>
          <a:p>
            <a:pPr lvl="1"/>
            <a:r>
              <a:rPr lang="en-GB" b="1" dirty="0" err="1"/>
              <a:t>PyTorch</a:t>
            </a:r>
            <a:r>
              <a:rPr lang="en-GB" b="1" dirty="0"/>
              <a:t> (.pt):</a:t>
            </a:r>
            <a:r>
              <a:rPr lang="en-GB" dirty="0"/>
              <a:t> Native support for rapid research and development.</a:t>
            </a:r>
          </a:p>
          <a:p>
            <a:pPr lvl="1"/>
            <a:r>
              <a:rPr lang="en-GB" b="1" dirty="0"/>
              <a:t>ONNX (.</a:t>
            </a:r>
            <a:r>
              <a:rPr lang="en-GB" b="1" dirty="0" err="1"/>
              <a:t>onnx</a:t>
            </a:r>
            <a:r>
              <a:rPr lang="en-GB" b="1" dirty="0"/>
              <a:t>):</a:t>
            </a:r>
            <a:r>
              <a:rPr lang="en-GB" dirty="0"/>
              <a:t> Optimized format for high-performance deployment across different hardware platforms.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5783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5340D-ABF6-C627-4168-4A7139BCF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Streamlit</a:t>
            </a:r>
            <a:r>
              <a:rPr lang="en-GB" b="1" dirty="0"/>
              <a:t>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52312-FFCF-DCAA-C8A8-D879305CF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Objective:</a:t>
            </a:r>
            <a:r>
              <a:rPr lang="en-US" dirty="0"/>
              <a:t> To provide a professional-grade interface for demonstrating model capabilities.</a:t>
            </a:r>
          </a:p>
          <a:p>
            <a:r>
              <a:rPr lang="en-US" b="1" dirty="0"/>
              <a:t>Framework:</a:t>
            </a:r>
            <a:r>
              <a:rPr lang="en-US" dirty="0"/>
              <a:t> Built using </a:t>
            </a:r>
            <a:r>
              <a:rPr lang="en-US" b="1" dirty="0" err="1"/>
              <a:t>Streamlit</a:t>
            </a:r>
            <a:r>
              <a:rPr lang="en-US" dirty="0"/>
              <a:t>, allowing for rapid deployment of data-centric web apps.</a:t>
            </a:r>
          </a:p>
          <a:p>
            <a:r>
              <a:rPr lang="en-US" b="1" dirty="0"/>
              <a:t>Design Philosophy:</a:t>
            </a:r>
            <a:endParaRPr lang="en-US" dirty="0"/>
          </a:p>
          <a:p>
            <a:pPr lvl="1"/>
            <a:r>
              <a:rPr lang="en-US" b="1" dirty="0"/>
              <a:t>Modern Automotive Aesthetic:</a:t>
            </a:r>
            <a:r>
              <a:rPr lang="en-US" dirty="0"/>
              <a:t> Custom CSS injection used to enforce a "Dark Mode" theme, mimicking real in-car displays.</a:t>
            </a:r>
          </a:p>
          <a:p>
            <a:pPr lvl="1"/>
            <a:r>
              <a:rPr lang="en-US" b="1" dirty="0"/>
              <a:t>User-Centric Layout:</a:t>
            </a:r>
            <a:r>
              <a:rPr lang="en-US" dirty="0"/>
              <a:t> Clean separation between controls and visualization.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2003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C23C-D8C8-61A1-4014-EC3D2CE6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User Interface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AE1D7-DDE9-2745-F7CF-BD166F5765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Control Panel (Sidebar):</a:t>
            </a:r>
          </a:p>
          <a:p>
            <a:pPr lvl="1"/>
            <a:r>
              <a:rPr lang="en-US" b="1" dirty="0"/>
              <a:t>Input Selection:</a:t>
            </a:r>
            <a:r>
              <a:rPr lang="en-US" dirty="0"/>
              <a:t> Toggle between Image, Video, or Webcam</a:t>
            </a:r>
          </a:p>
          <a:p>
            <a:pPr lvl="1"/>
            <a:r>
              <a:rPr lang="en-US" b="1" dirty="0"/>
              <a:t>Dynamic Tuning:</a:t>
            </a:r>
            <a:r>
              <a:rPr lang="en-US" dirty="0"/>
              <a:t> Adjustable </a:t>
            </a:r>
            <a:r>
              <a:rPr lang="en-US" b="1" dirty="0"/>
              <a:t>Confidence Threshold</a:t>
            </a:r>
            <a:r>
              <a:rPr lang="en-US" dirty="0"/>
              <a:t> slider (0.0 to 1.0) to filter detections in real-time without restarting the app.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1D8702-D679-F3AB-C561-309A4F91FA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Main View:</a:t>
            </a:r>
            <a:endParaRPr lang="en-US" dirty="0"/>
          </a:p>
          <a:p>
            <a:pPr lvl="1"/>
            <a:r>
              <a:rPr lang="en-US" b="1" dirty="0"/>
              <a:t>Visual Feed:</a:t>
            </a:r>
            <a:r>
              <a:rPr lang="en-US" dirty="0"/>
              <a:t> Large display area for the processed output with bounding boxes.</a:t>
            </a:r>
          </a:p>
          <a:p>
            <a:pPr lvl="1"/>
            <a:r>
              <a:rPr lang="en-US" b="1" dirty="0"/>
              <a:t>Analytics Panel:</a:t>
            </a:r>
            <a:r>
              <a:rPr lang="en-US" dirty="0"/>
              <a:t> Dedicated space for live statistics adjacent to the video feed.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06456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0414-A2F2-C709-2B6B-8BAEA85A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Key Performance Indicators (KPIs)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EF91EC3-D7C4-028E-258B-716CBF75E2A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38198" y="1825624"/>
          <a:ext cx="10515600" cy="429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61602418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4999624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01973340"/>
                    </a:ext>
                  </a:extLst>
                </a:gridCol>
              </a:tblGrid>
              <a:tr h="107422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Significance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782990"/>
                  </a:ext>
                </a:extLst>
              </a:tr>
              <a:tr h="107422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Frames Per Second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Measures system latency and processing speed.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694260"/>
                  </a:ext>
                </a:extLst>
              </a:tr>
              <a:tr h="107422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Object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Total Detections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Instant feedback on traffic density (cars, peds, etc.).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51588"/>
                  </a:ext>
                </a:extLst>
              </a:tr>
              <a:tr h="107422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System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Active / Idle / Stopped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Immediate visual confirmation of pipeline health.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735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250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9018-B631-DBD1-405D-F28389B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9880" y="2980944"/>
            <a:ext cx="3952240" cy="89611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Milestone 4</a:t>
            </a:r>
          </a:p>
        </p:txBody>
      </p:sp>
    </p:spTree>
    <p:extLst>
      <p:ext uri="{BB962C8B-B14F-4D97-AF65-F5344CB8AC3E}">
        <p14:creationId xmlns:p14="http://schemas.microsoft.com/office/powerpoint/2010/main" val="34631672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76F7-D2FC-BDEA-3A66-A99502B0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Objectives &amp;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1BD8FF-9373-7D23-4837-B8B440A761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31941"/>
            <a:ext cx="9691007" cy="35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Objectives: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Implement </a:t>
            </a:r>
            <a:r>
              <a:rPr lang="en-US" sz="2000" b="1" dirty="0">
                <a:solidFill>
                  <a:schemeClr val="tx1"/>
                </a:solidFill>
              </a:rPr>
              <a:t>Continuous Monitoring</a:t>
            </a:r>
            <a:r>
              <a:rPr lang="en-US" sz="2000" dirty="0">
                <a:solidFill>
                  <a:schemeClr val="tx1"/>
                </a:solidFill>
              </a:rPr>
              <a:t> to track system latency (FPS) and model confidence.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Apply </a:t>
            </a:r>
            <a:r>
              <a:rPr lang="en-US" sz="2000" b="1" dirty="0">
                <a:solidFill>
                  <a:schemeClr val="tx1"/>
                </a:solidFill>
              </a:rPr>
              <a:t>Active Learning</a:t>
            </a:r>
            <a:r>
              <a:rPr lang="en-US" sz="2000" dirty="0">
                <a:solidFill>
                  <a:schemeClr val="tx1"/>
                </a:solidFill>
              </a:rPr>
              <a:t> by capturing "Hard Examples" (low-confidence frames) to improve the dataset.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Set up an </a:t>
            </a:r>
            <a:r>
              <a:rPr lang="en-US" sz="2000" b="1" dirty="0">
                <a:solidFill>
                  <a:schemeClr val="tx1"/>
                </a:solidFill>
              </a:rPr>
              <a:t>Automated Retraining</a:t>
            </a:r>
            <a:r>
              <a:rPr lang="en-US" sz="2000" dirty="0">
                <a:solidFill>
                  <a:schemeClr val="tx1"/>
                </a:solidFill>
              </a:rPr>
              <a:t> trigger to update the model when data drift is detected.</a:t>
            </a:r>
          </a:p>
          <a:p>
            <a:r>
              <a:rPr lang="en-US" sz="2400" b="1" dirty="0">
                <a:solidFill>
                  <a:schemeClr val="tx1"/>
                </a:solidFill>
              </a:rPr>
              <a:t>Key Tools:</a:t>
            </a:r>
            <a:endParaRPr lang="en-US" sz="2400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Ultralytics YOLO:</a:t>
            </a:r>
            <a:r>
              <a:rPr lang="en-US" sz="2000" dirty="0">
                <a:solidFill>
                  <a:schemeClr val="tx1"/>
                </a:solidFill>
              </a:rPr>
              <a:t> For object detection and training.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MLflow:</a:t>
            </a:r>
            <a:r>
              <a:rPr lang="en-US" sz="2000" dirty="0">
                <a:solidFill>
                  <a:schemeClr val="tx1"/>
                </a:solidFill>
              </a:rPr>
              <a:t> For experiment tracking and metric logging.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OpenCV:</a:t>
            </a:r>
            <a:r>
              <a:rPr lang="en-US" sz="2000" dirty="0">
                <a:solidFill>
                  <a:schemeClr val="tx1"/>
                </a:solidFill>
              </a:rPr>
              <a:t> For video processing and image capture.</a:t>
            </a:r>
          </a:p>
        </p:txBody>
      </p:sp>
    </p:spTree>
    <p:extLst>
      <p:ext uri="{BB962C8B-B14F-4D97-AF65-F5344CB8AC3E}">
        <p14:creationId xmlns:p14="http://schemas.microsoft.com/office/powerpoint/2010/main" val="13288584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C42C5-0890-AFEF-6CC0-C50E030C4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361250"/>
            <a:ext cx="9963150" cy="95631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Configuration &amp; Setup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9370217-F693-4B47-B03A-14613DEC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1854070"/>
            <a:ext cx="993641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define centralized configurations to manage thresholds easily.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DRIFT_THRESHOLD </a:t>
            </a:r>
            <a:r>
              <a:rPr lang="en-US" sz="2000" dirty="0">
                <a:solidFill>
                  <a:schemeClr val="tx1"/>
                </a:solidFill>
              </a:rPr>
              <a:t>determines when the model performance is considered degraded.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HARD_EXAMPLE_RANGE </a:t>
            </a:r>
            <a:r>
              <a:rPr lang="en-US" sz="2000" dirty="0">
                <a:solidFill>
                  <a:schemeClr val="tx1"/>
                </a:solidFill>
              </a:rPr>
              <a:t>defines the confidence window for capturing edge cases.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EB77343-916E-45C6-B891-7670F36E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3190238"/>
            <a:ext cx="7354326" cy="309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65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7391-F636-6E95-7FEE-E1FB8E01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875071"/>
            <a:ext cx="9965977" cy="862289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MLFlow Initialization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619D55B-B92B-4562-A9FE-564A81271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702" y="1907945"/>
            <a:ext cx="10019745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initialize MLflow to track our experiment runs.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allows us to log parameters (video source, model) and metrics (FPS, Accuracy) for comparison over time.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CE60F5-BD51-4985-9CA3-E23BF3E02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42" y="3336144"/>
            <a:ext cx="7278116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528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59FB-1CC9-0BDD-E177-A31B5DEB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0" y="953729"/>
            <a:ext cx="9969911" cy="78363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The Monitoring Pipeline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7D8EBE-1537-49E4-96BB-6B61FECBC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9869" y="1891407"/>
            <a:ext cx="996991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function runs the inference loop on the video.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calculates </a:t>
            </a:r>
            <a:r>
              <a:rPr lang="en-US" sz="2000" b="1" dirty="0">
                <a:solidFill>
                  <a:schemeClr val="tx1"/>
                </a:solidFill>
              </a:rPr>
              <a:t>FPS (System Latency)</a:t>
            </a:r>
            <a:r>
              <a:rPr lang="en-US" sz="2000" dirty="0">
                <a:solidFill>
                  <a:schemeClr val="tx1"/>
                </a:solidFill>
              </a:rPr>
              <a:t> for every frame.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tracks the </a:t>
            </a:r>
            <a:r>
              <a:rPr lang="en-US" sz="2000" b="1" dirty="0">
                <a:solidFill>
                  <a:schemeClr val="tx1"/>
                </a:solidFill>
              </a:rPr>
              <a:t>Confidence Score</a:t>
            </a:r>
            <a:r>
              <a:rPr lang="en-US" sz="2000" dirty="0">
                <a:solidFill>
                  <a:schemeClr val="tx1"/>
                </a:solidFill>
              </a:rPr>
              <a:t> of every detection to monitor model stability.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C157F1-E543-4A65-AC53-20190CC60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099" y="2968625"/>
            <a:ext cx="7287642" cy="332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835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D21-BB29-669F-FC64-89C34DAA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878527"/>
            <a:ext cx="9955530" cy="85883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Active Learning (Hard Example Mining)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A8CE3F-183C-4311-8D30-DC04F3FF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1846027"/>
            <a:ext cx="942721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Inside the monitoring loop, we identify "Hard Examples“.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If a detection has low confidence (e.g., between 0.25 and 0.50), we save the image.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These images are used to label and retrain the model later.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4B105B-027F-45FB-BE65-DCD76F956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31" y="3429000"/>
            <a:ext cx="7249537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4299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D21-BB29-669F-FC64-89C34DAA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878527"/>
            <a:ext cx="9955530" cy="85883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Execution &amp; Logging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A8CE3F-183C-4311-8D30-DC04F3FF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1846028"/>
            <a:ext cx="995553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execute the pipeline within an MLflow run context.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Key metrics (Average FPS, Average Confidence, and Hard Example Count) are logged.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creates a permanent record of the model's performance on this specific video.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87F147-0143-4029-94FE-26A8621E9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37" y="3031913"/>
            <a:ext cx="7354326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7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D21-BB29-669F-FC64-89C34DAA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878527"/>
            <a:ext cx="9955530" cy="85883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Reporting &amp; Visualization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A8CE3F-183C-4311-8D30-DC04F3FF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50" y="1855134"/>
            <a:ext cx="936117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We visualize the system metrics to create a PDF/Image report.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Graph 1:</a:t>
            </a:r>
            <a:r>
              <a:rPr lang="en-US" sz="2000" dirty="0">
                <a:solidFill>
                  <a:schemeClr val="tx1"/>
                </a:solidFill>
              </a:rPr>
              <a:t> Real-time FPS to check for latency issues.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</a:rPr>
              <a:t>Graph 2:</a:t>
            </a:r>
            <a:r>
              <a:rPr lang="en-US" sz="2000" dirty="0">
                <a:solidFill>
                  <a:schemeClr val="tx1"/>
                </a:solidFill>
              </a:rPr>
              <a:t> Confidence scores vs. Drift Threshold to visualize degradation.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C1C9C9-D05B-4901-9E26-D288D88B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021" y="2932353"/>
            <a:ext cx="7401958" cy="330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471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71816B-9343-46F4-AF9E-9E7DEA7C8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" y="1244600"/>
            <a:ext cx="1099312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353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E9944F-6400-49A3-9C88-DF689BF8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59" y="1027446"/>
            <a:ext cx="5699760" cy="4355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B8635E-893F-44B6-BC26-C0DBE7855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027446"/>
            <a:ext cx="5191761" cy="437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968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D21-BB29-669F-FC64-89C34DAA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878527"/>
            <a:ext cx="9955530" cy="85883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Automated Retraining Logic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A8CE3F-183C-4311-8D30-DC04F3FF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49" y="1846028"/>
            <a:ext cx="987361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This function automates the retraining process using the YOLO API.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is designed to be triggered only when necessary (Drift Detected).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It saves the new weights to a new project folder.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51F377-2B60-4281-825B-27FD8111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968" y="2923246"/>
            <a:ext cx="7440063" cy="331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48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C5D21-BB29-669F-FC64-89C34DAA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150" y="878527"/>
            <a:ext cx="9955530" cy="85883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Drift Decision Trigger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FA8CE3F-183C-4311-8D30-DC04F3FF8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149" y="1884500"/>
            <a:ext cx="9873615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final step is the decision logic (The "Brain" of MLOps).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If </a:t>
            </a:r>
            <a:r>
              <a:rPr lang="en-US" sz="2000" b="1" dirty="0">
                <a:solidFill>
                  <a:schemeClr val="tx1"/>
                </a:solidFill>
              </a:rPr>
              <a:t>Average Confidence</a:t>
            </a:r>
            <a:r>
              <a:rPr lang="en-US" sz="2000" dirty="0">
                <a:solidFill>
                  <a:schemeClr val="tx1"/>
                </a:solidFill>
              </a:rPr>
              <a:t> drops below the threshold, or if too many </a:t>
            </a:r>
            <a:r>
              <a:rPr lang="en-US" sz="2000" b="1" dirty="0">
                <a:solidFill>
                  <a:schemeClr val="tx1"/>
                </a:solidFill>
              </a:rPr>
              <a:t>Hard Examples</a:t>
            </a:r>
            <a:r>
              <a:rPr lang="en-US" sz="2000" dirty="0">
                <a:solidFill>
                  <a:schemeClr val="tx1"/>
                </a:solidFill>
              </a:rPr>
              <a:t> are found, retraining is triggered.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0BC2A-66FA-4E3C-8C45-B5BC5572D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126" y="2884774"/>
            <a:ext cx="7325747" cy="331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710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S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191</TotalTime>
  <Words>1608</Words>
  <Application>Microsoft Office PowerPoint</Application>
  <PresentationFormat>Widescreen</PresentationFormat>
  <Paragraphs>205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Calisto MT</vt:lpstr>
      <vt:lpstr>Open Sans</vt:lpstr>
      <vt:lpstr>Poppins Ultra-Bold</vt:lpstr>
      <vt:lpstr>Wingdings 2</vt:lpstr>
      <vt:lpstr>1_Slate</vt:lpstr>
      <vt:lpstr>Real-Time Object Detection for Autonomous Vehicles</vt:lpstr>
      <vt:lpstr>Project Vision &amp; Objective</vt:lpstr>
      <vt:lpstr>Challenges &amp; Technical Approach</vt:lpstr>
      <vt:lpstr>Project Roadmap (End-to-End Pipeline)</vt:lpstr>
      <vt:lpstr>Milestone 1</vt:lpstr>
      <vt:lpstr>Project Overview</vt:lpstr>
      <vt:lpstr>Preprocessing Workflow</vt:lpstr>
      <vt:lpstr>Augmentation</vt:lpstr>
      <vt:lpstr>Class Distribution &amp; Factors</vt:lpstr>
      <vt:lpstr>Generate Configuration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Milestone 3.1</vt:lpstr>
      <vt:lpstr>Inference Pipeline Overview </vt:lpstr>
      <vt:lpstr>Setup &amp; Configuration</vt:lpstr>
      <vt:lpstr>Model Loading</vt:lpstr>
      <vt:lpstr>Image Detection</vt:lpstr>
      <vt:lpstr>Video Detection</vt:lpstr>
      <vt:lpstr>Milestone 3.2</vt:lpstr>
      <vt:lpstr>Inference Pipeline</vt:lpstr>
      <vt:lpstr>Streamlit Dashboard Overview</vt:lpstr>
      <vt:lpstr>User Interface Architecture</vt:lpstr>
      <vt:lpstr>Real-Time Key Performance Indicators (KPIs)</vt:lpstr>
      <vt:lpstr>Milestone 4</vt:lpstr>
      <vt:lpstr>Objectives &amp; Overview</vt:lpstr>
      <vt:lpstr>Configuration &amp; Setup</vt:lpstr>
      <vt:lpstr>MLFlow Initialization</vt:lpstr>
      <vt:lpstr>The Monitoring Pipeline</vt:lpstr>
      <vt:lpstr>Active Learning (Hard Example Mining)</vt:lpstr>
      <vt:lpstr>Execution &amp; Logging</vt:lpstr>
      <vt:lpstr>Reporting &amp; Visualization</vt:lpstr>
      <vt:lpstr>PowerPoint Presentation</vt:lpstr>
      <vt:lpstr>PowerPoint Presentation</vt:lpstr>
      <vt:lpstr>Automated Retraining Logic</vt:lpstr>
      <vt:lpstr>Drift Decision Trigger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Mileston4</dc:title>
  <dc:creator>esraa marey</dc:creator>
  <cp:lastModifiedBy>200013338-Fahd Adly abo hamady Hussien</cp:lastModifiedBy>
  <cp:revision>23</cp:revision>
  <dcterms:created xsi:type="dcterms:W3CDTF">2025-12-12T11:39:09Z</dcterms:created>
  <dcterms:modified xsi:type="dcterms:W3CDTF">2025-12-12T16:49:50Z</dcterms:modified>
</cp:coreProperties>
</file>